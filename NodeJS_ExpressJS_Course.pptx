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371600"/>
            <a:ext cx="4206240" cy="4206240"/>
          </a:xfrm>
          <a:prstGeom prst="ellipse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291840"/>
            <a:ext cx="2194560" cy="2194560"/>
          </a:xfrm>
          <a:prstGeom prst="ellipse">
            <a:avLst/>
          </a:prstGeom>
          <a:solidFill>
            <a:srgbClr val="1F2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&amp; EXPRESS.JS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Server Side of the Web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servers, REST APIs, middleware, and databases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and deploy a real backend for your React apps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Zubitech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weeks, from your first server to a deployed API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JavaScript outside the browser, work with files and modules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81728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1184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13248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&amp; REST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clean APIs with routes, middleware, and controllers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permanently with MongoDB and Mongoose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81728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1184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Deploy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login, connect to React, and ship it live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46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built the frontend — this is the other half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463040" cy="1143000"/>
          </a:xfrm>
          <a:prstGeom prst="roundRect">
            <a:avLst>
              <a:gd name="adj" fmla="val 7200"/>
            </a:avLst>
          </a:prstGeom>
          <a:solidFill>
            <a:srgbClr val="E7FBF3"/>
          </a:solidFill>
          <a:ln w="12700">
            <a:solidFill>
              <a:srgbClr val="E7FB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3504" y="175564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&amp; CSS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" y="2231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82880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39696" y="1417320"/>
            <a:ext cx="1463040" cy="1143000"/>
          </a:xfrm>
          <a:prstGeom prst="roundRect">
            <a:avLst>
              <a:gd name="adj" fmla="val 7200"/>
            </a:avLst>
          </a:prstGeom>
          <a:solidFill>
            <a:srgbClr val="E7FBF3"/>
          </a:solidFill>
          <a:ln w="12700">
            <a:solidFill>
              <a:srgbClr val="E7FB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86000" y="175564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86000" y="2231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02736" y="182880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2192" y="1417320"/>
            <a:ext cx="1463040" cy="1143000"/>
          </a:xfrm>
          <a:prstGeom prst="roundRect">
            <a:avLst>
              <a:gd name="adj" fmla="val 7200"/>
            </a:avLst>
          </a:prstGeom>
          <a:solidFill>
            <a:srgbClr val="E7FBF3"/>
          </a:solidFill>
          <a:ln w="12700">
            <a:solidFill>
              <a:srgbClr val="E7FB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68496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68496" y="175564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68496" y="2231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85232" y="182880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04688" y="1417320"/>
            <a:ext cx="1463040" cy="1143000"/>
          </a:xfrm>
          <a:prstGeom prst="roundRect">
            <a:avLst>
              <a:gd name="adj" fmla="val 7200"/>
            </a:avLst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50992" y="175564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+ Express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50992" y="2231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F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API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67728" y="182880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87184" y="1417320"/>
            <a:ext cx="1463040" cy="1143000"/>
          </a:xfrm>
          <a:prstGeom prst="roundRect">
            <a:avLst>
              <a:gd name="adj" fmla="val 72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33488" y="175564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33488" y="2231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8229600" cy="1417320"/>
          </a:xfrm>
          <a:prstGeom prst="roundRect">
            <a:avLst>
              <a:gd name="adj" fmla="val 580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29992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the backend solves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" y="36027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page and every task disappears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64992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64992" y="36027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login, no accounts, no private data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16752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16752" y="36027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cannot see the same data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46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548640"/>
            <a:ext cx="3840480" cy="3840480"/>
          </a:xfrm>
          <a:prstGeom prst="ellipse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Fundamentals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JavaScript where there is no browser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 ·  File system  ·  npm  ·  Async  ·  HTTP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46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Node.js?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language and not a framework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Runtime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executes JavaScript on your machine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81728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1184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13248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V8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that runs JavaScript inside Chrome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Non-Blocking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thousands of requests without waiting on any one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81728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1184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Language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both written in JavaScript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46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JS vs Node JS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language, completely different environment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05072" cy="2514600"/>
          </a:xfrm>
          <a:prstGeom prst="roundRect">
            <a:avLst>
              <a:gd name="adj" fmla="val 327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51790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5179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4944" y="192024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Chrome or Firefox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document, window, alert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open files on disk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visitor runs their own copy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public — anyone can read 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81728" y="1325880"/>
            <a:ext cx="4005072" cy="2514600"/>
          </a:xfrm>
          <a:prstGeom prst="roundRect">
            <a:avLst>
              <a:gd name="adj" fmla="val 3273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19472" y="151790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517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NODE.JS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9472" y="192024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computer or a server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fs, path, process, __dirname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files freely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serves every user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private — secrets stay safe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005072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050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Node.js is a program that runs JavaScript outside the browser.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46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Node.js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LTS version — never the experimental 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60520" cy="2244852"/>
          </a:xfrm>
          <a:prstGeom prst="roundRect">
            <a:avLst>
              <a:gd name="adj" fmla="val 2851"/>
            </a:avLst>
          </a:prstGeom>
          <a:solidFill>
            <a:srgbClr val="0E11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44018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44018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4018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389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1728216"/>
            <a:ext cx="383133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-v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v22.14.0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-v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10.9.2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2 + 2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3840480" cy="1298448"/>
          </a:xfrm>
          <a:prstGeom prst="roundRect">
            <a:avLst>
              <a:gd name="adj" fmla="val 633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4064" y="1481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get installed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4064" y="177393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— runs your JavaScript files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— downloads packages other people wrote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2761488"/>
            <a:ext cx="3840480" cy="1280160"/>
          </a:xfrm>
          <a:prstGeom prst="roundRect">
            <a:avLst>
              <a:gd name="adj" fmla="val 6429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4064" y="2907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84064" y="318211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node with no filename opens an interactive console — like the browser console, but in your terminal. Type .exit to leave.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46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Node Program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HTML file, no browser, no live server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plain .js file anywhere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 node filename.js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appears in the terminal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 still works exactly the same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&lt;script&gt; tag needed anywhere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434840" y="1325880"/>
            <a:ext cx="4251960" cy="2195474"/>
          </a:xfrm>
          <a:prstGeom prst="roundRect">
            <a:avLst>
              <a:gd name="adj" fmla="val 2915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1636776"/>
            <a:ext cx="425196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81144" y="144018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144018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4018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13898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hello.js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99432" y="1728216"/>
            <a:ext cx="3922776" cy="166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=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'Zubaid'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 = 12;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'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name);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`Teaching ${students} students`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terminal: node hello.js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 Zubaid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Teaching 12 students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46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You Run a File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does four things before your code executes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9344"/>
            <a:ext cx="347472" cy="347472"/>
          </a:xfrm>
          <a:prstGeom prst="ellipse">
            <a:avLst/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029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the file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your .js file from disk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40864" y="199339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87752" y="141732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609344"/>
            <a:ext cx="347472" cy="347472"/>
          </a:xfrm>
          <a:prstGeom prst="ellipse">
            <a:avLst/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29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 compiles 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88920" y="22860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JavaScript into machine code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71416" y="199339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18304" y="141732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9472" y="1609344"/>
            <a:ext cx="347472" cy="347472"/>
          </a:xfrm>
          <a:prstGeom prst="ellipse">
            <a:avLst/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029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top to bottom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19472" y="22860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every synchronous 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01968" y="199339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48856" y="141732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50024" y="1609344"/>
            <a:ext cx="347472" cy="347472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0024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50024" y="2029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Waits on the loop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50024" y="22860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alive for timers and requests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03580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0358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script exits when it finishes. A server does not — app.listen() keeps the event loop busy on purpose.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767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your terminal 'hangs' after starting a server. That is not a bug — it means the server is alive and listening.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46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— Three Kinds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require() call pulls from one of these three places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33472" cy="1481328"/>
          </a:xfrm>
          <a:prstGeom prst="roundRect">
            <a:avLst>
              <a:gd name="adj" fmla="val 555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1790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179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fs, path, http, 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15798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with Node. No install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55264" y="1325880"/>
            <a:ext cx="2633472" cy="1481328"/>
          </a:xfrm>
          <a:prstGeom prst="roundRect">
            <a:avLst>
              <a:gd name="adj" fmla="val 555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6432" y="151790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3A8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5179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56432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./math, ../utils/db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6432" y="215798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wrote. Always start with a dot.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1325880"/>
            <a:ext cx="2633472" cy="1481328"/>
          </a:xfrm>
          <a:prstGeom prst="roundRect">
            <a:avLst>
              <a:gd name="adj" fmla="val 555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51790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5179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packages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54496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express, mongoose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54496" y="215798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into node_modules. No dot.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44368"/>
            <a:ext cx="8229600" cy="1048817"/>
          </a:xfrm>
          <a:prstGeom prst="roundRect">
            <a:avLst>
              <a:gd name="adj" fmla="val 6103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55264"/>
            <a:ext cx="822960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" y="305866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305866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05866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300837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require.js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" y="3346704"/>
            <a:ext cx="7900416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fs =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'fs'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   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built-in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add } =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'./math'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local file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express =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'express'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package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module.exports and require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sends code out, another pulls it in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Sending code 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4023360" cy="2004365"/>
          </a:xfrm>
          <a:prstGeom prst="roundRect">
            <a:avLst>
              <a:gd name="adj" fmla="val 3193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83664"/>
            <a:ext cx="402336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68706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68706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8706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636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math.js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1975104"/>
            <a:ext cx="3694176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add(a, b) {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sub(a, b) {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- b;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add, sub };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298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Pulling code 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572768"/>
            <a:ext cx="4023360" cy="2004365"/>
          </a:xfrm>
          <a:prstGeom prst="roundRect">
            <a:avLst>
              <a:gd name="adj" fmla="val 3193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883664"/>
            <a:ext cx="402336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9744" y="168706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168706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68706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1636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28032" y="1975104"/>
            <a:ext cx="3694176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add, sub } =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'./math'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console.log(add(10, 5));  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console.log(sub(10, 5));  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import everything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 = 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'./math'</a:t>
            </a:r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math.add(2, 3);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8221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'./' matters. require('math') looks in node_modules — require('./math') looks in your own folder.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 System Module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the browser can never do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029200" cy="2582266"/>
          </a:xfrm>
          <a:prstGeom prst="roundRect">
            <a:avLst>
              <a:gd name="adj" fmla="val 2479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9344"/>
            <a:ext cx="502920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624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4700016" cy="205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fs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'fs'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fs.writeFileSync(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'names.txt'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'Ali, Sara, Bilal'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 = fs.readFileSync(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'names.txt'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'utf-8'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JSON as a real object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raw = fs.readFileSync(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'students.json'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'utf-8'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 = JSON.parse(raw);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students.forEach(st =&gt; console.log(st.name, st.grade));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1298448"/>
            <a:ext cx="297180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4447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vs Async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17190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readFileSync blocks everything until done. readFile with a callback does not. Use async versions in a real server.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2798064"/>
            <a:ext cx="2971800" cy="1234440"/>
          </a:xfrm>
          <a:prstGeom prst="roundRect">
            <a:avLst>
              <a:gd name="adj" fmla="val 6667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9443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pass 'utf-8'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2186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you get a raw Buffer of bytes instead of readable text.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Useful Built-ins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modules you will reach for constantly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114800" cy="1704442"/>
          </a:xfrm>
          <a:prstGeom prst="roundRect">
            <a:avLst>
              <a:gd name="adj" fmla="val 3755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9344"/>
            <a:ext cx="411480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62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3785616" cy="117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'path'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path.join(__dirname,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'notes.json'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C:\project\data\notes.json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path.extname(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'photo.png'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.png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path.basename(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'/a/b/c.txt'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c.txt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023360" cy="1704442"/>
          </a:xfrm>
          <a:prstGeom prst="roundRect">
            <a:avLst>
              <a:gd name="adj" fmla="val 3755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609344"/>
            <a:ext cx="402336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974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6519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13624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os.js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28032" y="1700784"/>
            <a:ext cx="3694176" cy="117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'os'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os.platform(); 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'win32'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os.cpus().length;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process.env.PORT;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env vars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process.exit();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stop the program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3467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path.join instead of writing the slash yourself?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362102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uses backslashes, Mac and Linux use forward slashes. path.join picks the right one automatically — your code works on every machine in the class.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and package.json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manager behind every Node project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114800" cy="2048256"/>
          </a:xfrm>
          <a:prstGeom prst="roundRect">
            <a:avLst>
              <a:gd name="adj" fmla="val 3125"/>
            </a:avLst>
          </a:prstGeom>
          <a:solidFill>
            <a:srgbClr val="0E11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362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37856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init -y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package.json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express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 64 packages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-D nodemon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 1 package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298448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3716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65776" y="15910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project's ID card — name, scripts, dependencies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075688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21488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package-lock.json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65776" y="23682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exact versions so everyone installs the same code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852928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5776" y="29260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65776" y="31455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downloaded code. Never edit, never commit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8587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node_modules to .gitignore before your first commit. It can be hundreds of megabytes.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 and nodemon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restarting the server by hand every time you save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846320" cy="2231136"/>
          </a:xfrm>
          <a:prstGeom prst="roundRect">
            <a:avLst>
              <a:gd name="adj" fmla="val 2869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9344"/>
            <a:ext cx="484632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624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451713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"my-api"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"index.js"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"scripts"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"start"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 index.js"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"nodemon index.js"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"dependencies"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"express"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"^4.19.2"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"devDependencies"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"nodemon"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"^3.1.0"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32120" y="1298448"/>
            <a:ext cx="3154680" cy="1234440"/>
          </a:xfrm>
          <a:prstGeom prst="roundRect">
            <a:avLst>
              <a:gd name="adj" fmla="val 6667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444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 watches your files and restarts the server the moment you hit save.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2670048"/>
            <a:ext cx="3154680" cy="1298448"/>
          </a:xfrm>
          <a:prstGeom prst="roundRect">
            <a:avLst>
              <a:gd name="adj" fmla="val 633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-D means dev only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31089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 helps while coding but is not needed on the live server, so it goes in devDependencies.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Synchronous vs Asynchronous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idea in Node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05072" cy="384048"/>
          </a:xfrm>
          <a:prstGeom prst="roundRect">
            <a:avLst>
              <a:gd name="adj" fmla="val 19048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298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— everyone waits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4005072" cy="1353312"/>
          </a:xfrm>
          <a:prstGeom prst="roundRect">
            <a:avLst>
              <a:gd name="adj" fmla="val 4730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84832"/>
            <a:ext cx="4005072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888236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88236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88236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83794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blocking.js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1792" y="2176272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= fs.readFileSync(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'big.json'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'done'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nothing else can run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the file is loading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1298448"/>
            <a:ext cx="4005072" cy="384048"/>
          </a:xfrm>
          <a:prstGeom prst="roundRect">
            <a:avLst>
              <a:gd name="adj" fmla="val 19048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298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— Node keeps working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81728" y="1773936"/>
            <a:ext cx="4005072" cy="1353312"/>
          </a:xfrm>
          <a:prstGeom prst="roundRect">
            <a:avLst>
              <a:gd name="adj" fmla="val 4730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2084832"/>
            <a:ext cx="4005072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8032" y="1888236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888236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1888236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183794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nonblocking.js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2176272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'big.json'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(err, data) =&gt;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'done'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other requests keep running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200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process can serve thousands of users at once — because it never sits still waiting for a file or a database.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913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anything that touches a disk, a network, or a database is asynchronous.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Write Async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task, written three ways — always prefer the third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33472" cy="402336"/>
          </a:xfrm>
          <a:prstGeom prst="roundRect">
            <a:avLst>
              <a:gd name="adj" fmla="val 18182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98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Callbacks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92224"/>
            <a:ext cx="2633472" cy="1517904"/>
          </a:xfrm>
          <a:prstGeom prst="roundRect">
            <a:avLst>
              <a:gd name="adj" fmla="val 4217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2633472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906524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906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906524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194560"/>
            <a:ext cx="23042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getUser(1, (err, user) =&gt; {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getPosts(user, (e, posts) =&gt; {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console.log(posts);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55264" y="1298448"/>
            <a:ext cx="2633472" cy="402336"/>
          </a:xfrm>
          <a:prstGeom prst="roundRect">
            <a:avLst>
              <a:gd name="adj" fmla="val 18182"/>
            </a:avLst>
          </a:prstGeom>
          <a:solidFill>
            <a:srgbClr val="FFF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298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Promises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55264" y="1792224"/>
            <a:ext cx="2633472" cy="1309421"/>
          </a:xfrm>
          <a:prstGeom prst="roundRect">
            <a:avLst>
              <a:gd name="adj" fmla="val 4888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55264" y="2103120"/>
            <a:ext cx="2633472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906524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57016" y="1906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906524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2194560"/>
            <a:ext cx="2304288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getUser(1)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.then(user =&gt; getPosts(user))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.then(posts =&gt; show(posts))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 =&gt; log(err));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53328" y="1298448"/>
            <a:ext cx="2633472" cy="402336"/>
          </a:xfrm>
          <a:prstGeom prst="roundRect">
            <a:avLst>
              <a:gd name="adj" fmla="val 18182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298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async / await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53328" y="1792224"/>
            <a:ext cx="2633472" cy="1100938"/>
          </a:xfrm>
          <a:prstGeom prst="roundRect">
            <a:avLst>
              <a:gd name="adj" fmla="val 5814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53328" y="2103120"/>
            <a:ext cx="2633472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1906524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906524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0528" y="1906524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194560"/>
            <a:ext cx="230428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 =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getUser(1);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=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getPosts(u);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console.log(p);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8229600" cy="841248"/>
          </a:xfrm>
          <a:prstGeom prst="roundRect">
            <a:avLst>
              <a:gd name="adj" fmla="val 978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401568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 is just Promises with cleaner syntax. Any function using await must be declared async, and should be wrapped in try / catch.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Server Without a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hard way once — then you will appreciate Express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40680" cy="2757830"/>
          </a:xfrm>
          <a:prstGeom prst="roundRect">
            <a:avLst>
              <a:gd name="adj" fmla="val 2321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9344"/>
            <a:ext cx="544068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6245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5111496" cy="222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server = http.createServer((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.url ===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.method ===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'GET'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.writeHead(200, {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'application/json'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.end(JSON.stringify({ message: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.writeHead(404);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.end(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'Not found'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server.listen(3000);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298448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lines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45936" y="1920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route that only handles GET on one URL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798064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29443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imagine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45936" y="32186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routes, each with params, body parsing, and error handling — all in one if / else chain.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548640"/>
            <a:ext cx="3840480" cy="3840480"/>
          </a:xfrm>
          <a:prstGeom prst="ellipse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40 lines of server code into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 ·  Middleware  ·  REST  ·  Controllers  ·  Errors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Express?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framework that sits on top of Node's http module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Made Simple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app.get, app.post — one line per endpoint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81728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1184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13248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Pipeline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before every request reaches your route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Unopinionated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forced folder structure — you decide everything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81728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1184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 Ecosystem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uploads, validation, logging — all one npm install away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Express Server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to the previous raw Node version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029200" cy="2582266"/>
          </a:xfrm>
          <a:prstGeom prst="roundRect">
            <a:avLst>
              <a:gd name="adj" fmla="val 2479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9344"/>
            <a:ext cx="502920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624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4700016" cy="205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express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'express'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express();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.use(express.json());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.json({ message: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from Express'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.listen(3000, () =&gt;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'http://localhost:3000'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1298448"/>
            <a:ext cx="2971800" cy="2697480"/>
          </a:xfrm>
          <a:prstGeom prst="roundRect">
            <a:avLst>
              <a:gd name="adj" fmla="val 305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463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by 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17739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9293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your application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21396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express.json()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2951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read POST bodies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25054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266090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one route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8712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302666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sent you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32369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33924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send back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36027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37581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server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Route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 — learn these names and everything else follows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100938"/>
          </a:xfrm>
          <a:prstGeom prst="roundRect">
            <a:avLst>
              <a:gd name="adj" fmla="val 5814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91056"/>
            <a:ext cx="822960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39446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39446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9446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4416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682496"/>
            <a:ext cx="790041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'/students/:id'</a:t>
            </a:r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</a:t>
            </a:r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300" dirty="0"/>
          </a:p>
          <a:p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.json({ id: </a:t>
            </a:r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.params.id });</a:t>
            </a:r>
            <a:endParaRPr lang="en-US" sz="1300" dirty="0"/>
          </a:p>
          <a:p>
            <a:pPr indent="0" marL="0">
              <a:lnSpc>
                <a:spcPts val="1768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505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2450592"/>
            <a:ext cx="5806440" cy="420624"/>
          </a:xfrm>
          <a:prstGeom prst="roundRect">
            <a:avLst>
              <a:gd name="adj" fmla="val 15217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45059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Express application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809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80360" y="2980944"/>
            <a:ext cx="5806440" cy="420624"/>
          </a:xfrm>
          <a:prstGeom prst="roundRect">
            <a:avLst>
              <a:gd name="adj" fmla="val 15217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298094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method to listen for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511296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112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'/students/:id'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80360" y="3511296"/>
            <a:ext cx="5806440" cy="420624"/>
          </a:xfrm>
          <a:prstGeom prst="roundRect">
            <a:avLst>
              <a:gd name="adj" fmla="val 15217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351129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path, with :id as a variable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416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80360" y="4041648"/>
            <a:ext cx="5806440" cy="420624"/>
          </a:xfrm>
          <a:prstGeom prst="roundRect">
            <a:avLst>
              <a:gd name="adj" fmla="val 15217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404164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handler that runs when it matches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HTTP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in the world is built from these four verbs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051560" cy="566928"/>
          </a:xfrm>
          <a:prstGeom prst="roundRect">
            <a:avLst>
              <a:gd name="adj" fmla="val 11290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920" y="13167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581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never changes anything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77640" y="1298448"/>
            <a:ext cx="4709160" cy="566928"/>
          </a:xfrm>
          <a:prstGeom prst="roundRect">
            <a:avLst>
              <a:gd name="adj" fmla="val 11290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87952" y="12984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app.get('/notes')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051560" cy="566928"/>
          </a:xfrm>
          <a:prstGeom prst="roundRect">
            <a:avLst>
              <a:gd name="adj" fmla="val 11290"/>
            </a:avLst>
          </a:prstGeom>
          <a:solidFill>
            <a:srgbClr val="3A8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116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45920" y="20299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new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2951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body with the new item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77640" y="2011680"/>
            <a:ext cx="4709160" cy="566928"/>
          </a:xfrm>
          <a:prstGeom prst="roundRect">
            <a:avLst>
              <a:gd name="adj" fmla="val 11290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7952" y="20116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app.post('/notes')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1051560" cy="566928"/>
          </a:xfrm>
          <a:prstGeom prst="roundRect">
            <a:avLst>
              <a:gd name="adj" fmla="val 11290"/>
            </a:avLst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249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45920" y="2743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existing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0083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whole record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77640" y="2724912"/>
            <a:ext cx="4709160" cy="566928"/>
          </a:xfrm>
          <a:prstGeom prst="roundRect">
            <a:avLst>
              <a:gd name="adj" fmla="val 11290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272491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app.put('/notes/:id')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1051560" cy="566928"/>
          </a:xfrm>
          <a:prstGeom prst="roundRect">
            <a:avLst>
              <a:gd name="adj" fmla="val 11290"/>
            </a:avLst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3814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645920" y="3456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3721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returns 204 with no body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77640" y="3438144"/>
            <a:ext cx="4709160" cy="566928"/>
          </a:xfrm>
          <a:prstGeom prst="roundRect">
            <a:avLst>
              <a:gd name="adj" fmla="val 11290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87952" y="343814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app.delete('/notes/:id')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resource that supports all four is called a CRUD API — Create, Read, Update, Delete.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Naming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URLs are predictable — a new developer should guess them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05072" cy="2606040"/>
          </a:xfrm>
          <a:prstGeom prst="roundRect">
            <a:avLst>
              <a:gd name="adj" fmla="val 3158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48132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4944" y="1865376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07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/students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07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/students/5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07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/students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07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/students/5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07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/students/5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07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/students/5/grades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1728" y="1298448"/>
            <a:ext cx="4005072" cy="2606040"/>
          </a:xfrm>
          <a:prstGeom prst="roundRect">
            <a:avLst>
              <a:gd name="adj" fmla="val 3158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19472" y="148132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481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9472" y="1865376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2C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/getAllStudents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2C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/student?action=get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2C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/createStudent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2C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/updateStudent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2C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/deleteStudent/5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9B2C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/getGradesForStudent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416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in the URL, verbs in the HTTP method. Plural names. Never put an action word in the path.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req.params — Data in the URL Path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identifying one specific item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37490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with a colon in the route path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arrives as a string, never a number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Number() before comparing to an id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have more than one in a path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434840" y="1298448"/>
            <a:ext cx="4251960" cy="2055571"/>
          </a:xfrm>
          <a:prstGeom prst="roundRect">
            <a:avLst>
              <a:gd name="adj" fmla="val 3114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1609344"/>
            <a:ext cx="425196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8114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136245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params.js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99432" y="1700784"/>
            <a:ext cx="3922776" cy="152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'/students/:id'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= Number(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.params.id);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.json({ id 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/students/42  -&gt;  { "id": 42 }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two params at once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'/class/:cls/student/:id'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566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req.params.id from /students/42 is the string "42" — comparing it with === 42 will always be false.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req.query — Data After the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filtering, searching, sorting, and pagination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937760" cy="2231136"/>
          </a:xfrm>
          <a:prstGeom prst="roundRect">
            <a:avLst>
              <a:gd name="adj" fmla="val 2869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9344"/>
            <a:ext cx="493776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62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460857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'/students'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search, grade, page }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.query;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= students;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(search)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result.filter(st =&gt;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st.name.includes(search));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.json(result);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1298448"/>
            <a:ext cx="3063240" cy="1417320"/>
          </a:xfrm>
          <a:prstGeom prst="roundRect">
            <a:avLst>
              <a:gd name="adj" fmla="val 580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444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URL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17373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/students?search=Ali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&amp;grade=A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&amp;page=2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2852928"/>
            <a:ext cx="3063240" cy="1170432"/>
          </a:xfrm>
          <a:prstGeom prst="roundRect">
            <a:avLst>
              <a:gd name="adj" fmla="val 7031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9992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optional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32735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params may be missing. Always check before using them.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req.body — Data Sent in POST and 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send large or private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937760" cy="2406701"/>
          </a:xfrm>
          <a:prstGeom prst="roundRect">
            <a:avLst>
              <a:gd name="adj" fmla="val 2660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9344"/>
            <a:ext cx="493776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62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4608576" cy="1876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.use(express.json());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required, once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.post(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'/students'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name, grade }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.body;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(!name)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.status(400)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.json({ error: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 is required'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.status(201).json({ name, grade 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1298448"/>
            <a:ext cx="3063240" cy="137160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444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Postman sends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52160" y="171907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"Ali",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"grade": "A"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2798064"/>
            <a:ext cx="3063240" cy="1225296"/>
          </a:xfrm>
          <a:prstGeom prst="roundRect">
            <a:avLst>
              <a:gd name="adj" fmla="val 6716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9443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2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#1 bug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52160" y="321868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express.json() and req.body is undefined — every single time.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Sending a Response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plus data — and only ever one response per request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937760" cy="2055571"/>
          </a:xfrm>
          <a:prstGeom prst="roundRect">
            <a:avLst>
              <a:gd name="adj" fmla="val 3114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9344"/>
            <a:ext cx="493776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62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4608576" cy="152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.json({ name: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'Ali'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      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200 + JSON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.status(201).json(newItem);  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created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.status(404).json({ error: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 found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.status(204).end();          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content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.send(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plain text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 — crashes the server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.json({ a: 1 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.json({ b: 2 });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1298448"/>
            <a:ext cx="3063240" cy="2724912"/>
          </a:xfrm>
          <a:prstGeom prst="roundRect">
            <a:avLst>
              <a:gd name="adj" fmla="val 302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444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 to memorise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0" y="1755648"/>
            <a:ext cx="512064" cy="219456"/>
          </a:xfrm>
          <a:prstGeom prst="roundRect">
            <a:avLst>
              <a:gd name="adj" fmla="val 20833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75564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3952" y="17556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2034540"/>
            <a:ext cx="512064" cy="219456"/>
          </a:xfrm>
          <a:prstGeom prst="roundRect">
            <a:avLst>
              <a:gd name="adj" fmla="val 20833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203454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73952" y="20345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52160" y="2313432"/>
            <a:ext cx="512064" cy="219456"/>
          </a:xfrm>
          <a:prstGeom prst="roundRect">
            <a:avLst>
              <a:gd name="adj" fmla="val 20833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31343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23134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Deleted, no body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0" y="2592324"/>
            <a:ext cx="512064" cy="219456"/>
          </a:xfrm>
          <a:prstGeom prst="roundRect">
            <a:avLst>
              <a:gd name="adj" fmla="val 20833"/>
            </a:avLst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5923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73952" y="25923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52160" y="2871216"/>
            <a:ext cx="512064" cy="219456"/>
          </a:xfrm>
          <a:prstGeom prst="roundRect">
            <a:avLst>
              <a:gd name="adj" fmla="val 20833"/>
            </a:avLst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87121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73952" y="28712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logged 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0" y="3150108"/>
            <a:ext cx="512064" cy="219456"/>
          </a:xfrm>
          <a:prstGeom prst="roundRect">
            <a:avLst>
              <a:gd name="adj" fmla="val 20833"/>
            </a:avLst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315010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73952" y="31501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52160" y="3429000"/>
            <a:ext cx="512064" cy="219456"/>
          </a:xfrm>
          <a:prstGeom prst="roundRect">
            <a:avLst>
              <a:gd name="adj" fmla="val 20833"/>
            </a:avLst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342900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73952" y="34290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52160" y="3707892"/>
            <a:ext cx="512064" cy="219456"/>
          </a:xfrm>
          <a:prstGeom prst="roundRect">
            <a:avLst>
              <a:gd name="adj" fmla="val 20833"/>
            </a:avLst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70789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73952" y="37078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crashed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— The Request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passes through a chain before reaching your route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1B1F27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371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64208" y="16002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69948" y="137160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4812" y="1371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express.json()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76956" y="16002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82696" y="137160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71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9704" y="16002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95444" y="137160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0308" y="1371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authCheck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02452" y="16002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08192" y="137160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00D084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371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route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16002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20940" y="137160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1B1F27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5804" y="1371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8229600" cy="1704442"/>
          </a:xfrm>
          <a:prstGeom prst="roundRect">
            <a:avLst>
              <a:gd name="adj" fmla="val 3755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88336"/>
            <a:ext cx="822960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" y="249174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" y="249174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249174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244144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middleware.js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" y="2779776"/>
            <a:ext cx="7900416" cy="117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logger(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.method,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.url);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/students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                      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 to the next one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.use(logger);                  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on every request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'/admin'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checkAdmin);    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only on /admin/*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Kinds of Middleware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write some and install the rest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express.json(), express.static() — come with Express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81728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1184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13248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cors, morgan, helmet — installed from npm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functions — logging, auth checks, validation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81728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1184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Error-handling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four arguments and always goes last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Your Own Middleware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middleware is just a function with three arguments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120640" cy="2406701"/>
          </a:xfrm>
          <a:prstGeom prst="roundRect">
            <a:avLst>
              <a:gd name="adj" fmla="val 2660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9344"/>
            <a:ext cx="512064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624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4791456" cy="1876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requireApiKey(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.headers[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'x-api-key'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(key !== process.env.API_KEY)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.status(401)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.json({ error: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'Invalid API key'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.user = { role: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attach data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                  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continue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1298448"/>
            <a:ext cx="2880360" cy="1325880"/>
          </a:xfrm>
          <a:prstGeom prst="roundRect">
            <a:avLst>
              <a:gd name="adj" fmla="val 6207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4447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next() is mandatory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16752" y="1719072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it and the request hangs forever — the browser spinner never stops.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2761488"/>
            <a:ext cx="2880360" cy="1280160"/>
          </a:xfrm>
          <a:prstGeom prst="roundRect">
            <a:avLst>
              <a:gd name="adj" fmla="val 6429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29077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 to req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16752" y="3182112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 put on req is available in every later middleware and route.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Routes with express.Router()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giant index.js does not survive a real project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160520" cy="2055571"/>
          </a:xfrm>
          <a:prstGeom prst="roundRect">
            <a:avLst>
              <a:gd name="adj" fmla="val 3114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9344"/>
            <a:ext cx="416052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624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routes/students.js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3831336" cy="152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express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'express'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express.Router();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getAll);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'/:id'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getOne);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.post(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create);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'/:id'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remove);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298448"/>
            <a:ext cx="3886200" cy="2055571"/>
          </a:xfrm>
          <a:prstGeom prst="roundRect">
            <a:avLst>
              <a:gd name="adj" fmla="val 3114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609344"/>
            <a:ext cx="388620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46904" y="1412748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02352" y="1412748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1412748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13624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65192" y="1700784"/>
            <a:ext cx="3557016" cy="152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express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'express'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express();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.use(express.json());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'/api/students'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'./routes/students'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.listen(3000);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474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prefix lives in one place. Change /api/students to /api/v2/students and every route updates at once.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Folder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Express project you meet at work looks roughly like this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200400" cy="2880360"/>
          </a:xfrm>
          <a:prstGeom prst="roundRect">
            <a:avLst>
              <a:gd name="adj" fmla="val 2857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my-api/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.env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.gitignore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routes/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students.js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auth.js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controllers/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studentController.js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models/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Student.js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middleware/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auth.js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931920" y="1298448"/>
            <a:ext cx="4754880" cy="493776"/>
          </a:xfrm>
          <a:prstGeom prst="roundRect">
            <a:avLst>
              <a:gd name="adj" fmla="val 1296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33088" y="13350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33088" y="1536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app and wires everything together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0" y="1883664"/>
            <a:ext cx="4754880" cy="493776"/>
          </a:xfrm>
          <a:prstGeom prst="roundRect">
            <a:avLst>
              <a:gd name="adj" fmla="val 1296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1920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33088" y="21214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paths only — no business logic here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2468880"/>
            <a:ext cx="4754880" cy="493776"/>
          </a:xfrm>
          <a:prstGeom prst="roundRect">
            <a:avLst>
              <a:gd name="adj" fmla="val 1296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3088" y="2505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33088" y="270662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work each route performs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3054096"/>
            <a:ext cx="4754880" cy="493776"/>
          </a:xfrm>
          <a:prstGeom prst="roundRect">
            <a:avLst>
              <a:gd name="adj" fmla="val 1296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33088" y="3090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33088" y="3291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schemas and data shapes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31920" y="3639312"/>
            <a:ext cx="4754880" cy="493776"/>
          </a:xfrm>
          <a:prstGeom prst="roundRect">
            <a:avLst>
              <a:gd name="adj" fmla="val 1296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33088" y="3675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33088" y="38770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checks like auth and validation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 — Separating the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say what URL. Controllers say what happens.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05072" cy="365760"/>
          </a:xfrm>
          <a:prstGeom prst="roundRect">
            <a:avLst>
              <a:gd name="adj" fmla="val 17500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crammed into the route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5072" cy="2351837"/>
          </a:xfrm>
          <a:prstGeom prst="roundRect">
            <a:avLst>
              <a:gd name="adj" fmla="val 2722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48256"/>
            <a:ext cx="4005072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85166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166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5166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80136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routes/students.js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1792" y="2139696"/>
            <a:ext cx="3675888" cy="182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'/:id'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 =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.findById(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.params.id);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(!st)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.status(404)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.json({ error: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'Not found'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.json(st);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(e) {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.status(500).end(); }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1298448"/>
            <a:ext cx="4005072" cy="365760"/>
          </a:xfrm>
          <a:prstGeom prst="roundRect">
            <a:avLst>
              <a:gd name="adj" fmla="val 1750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stays one clean 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81728" y="1737360"/>
            <a:ext cx="4005072" cy="2560320"/>
          </a:xfrm>
          <a:prstGeom prst="roundRect">
            <a:avLst>
              <a:gd name="adj" fmla="val 2500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2048256"/>
            <a:ext cx="4005072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8032" y="185166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85166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185166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139696"/>
            <a:ext cx="367588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routes/students.js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'/:id'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getOne);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controllers/studentController.js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.getOne =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 =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.findById(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.params.id);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(!st)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Error(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'404'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.json(st);</a:t>
            </a:r>
            <a:endParaRPr lang="en-US" sz="900" dirty="0"/>
          </a:p>
          <a:p>
            <a:pPr indent="0" marL="0">
              <a:lnSpc>
                <a:spcPts val="1224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one bad request take the whole server down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84525"/>
          </a:xfrm>
          <a:prstGeom prst="roundRect">
            <a:avLst>
              <a:gd name="adj" fmla="val 1949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91056"/>
            <a:ext cx="822960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39446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39446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9446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4416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682496"/>
            <a:ext cx="7900416" cy="2754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catch errors inside the route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'/students/:id'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 =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Student.findById(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.params.id);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(!st)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.status(404).json({ error: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'Student not found'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.json(st);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(err)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(err);                    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 it to the error handler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the global handler — FOUR arguments, always the last app.use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.use((err,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console.error(err.message);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.status(500).json({ error: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'Something went wrong'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 Handler and Environment 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every real project needs before deploying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Catch-all 404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528877"/>
          </a:xfrm>
          <a:prstGeom prst="roundRect">
            <a:avLst>
              <a:gd name="adj" fmla="val 4187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65376"/>
            <a:ext cx="402336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66878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66878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6878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6184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1956816"/>
            <a:ext cx="3694176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all your routes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.status(404).json({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error: 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'Route not found'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2801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in .env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4023360" cy="1528877"/>
          </a:xfrm>
          <a:prstGeom prst="roundRect">
            <a:avLst>
              <a:gd name="adj" fmla="val 4187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865376"/>
            <a:ext cx="402336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9744" y="166878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166878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66878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16184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28032" y="1956816"/>
            <a:ext cx="3694176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.env  (never commit this)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PORT=3000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MONGO_URI=mongodb+srv: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//...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JWT_SECRET=supersecretvalue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'dotenv'</a:t>
            </a:r>
            <a:pPr indent="0" marL="0">
              <a:lnSpc>
                <a:spcPts val="136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).config();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4015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the 404 handler must come after every route, and the error handler after that.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.env to .gitignore on day one. Pushing an API key to a public GitHub repo is the most common security mistake beginners make.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Express to React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ports means the browser blocks you by default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localhost:5173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1463040"/>
            <a:ext cx="3017520" cy="530352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4630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error blocks this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298448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0528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114800" cy="2143354"/>
          </a:xfrm>
          <a:prstGeom prst="roundRect">
            <a:avLst>
              <a:gd name="adj" fmla="val 2986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42616"/>
            <a:ext cx="411480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244602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244602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44602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23957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1792" y="2734056"/>
            <a:ext cx="3785616" cy="161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backend — fixes it in 2 lines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cors =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'cors'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.use(cors());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production: lock it down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.use(cors({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origin: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'https://myapp.vercel.app'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3931920" cy="2143354"/>
          </a:xfrm>
          <a:prstGeom prst="roundRect">
            <a:avLst>
              <a:gd name="adj" fmla="val 2986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642616"/>
            <a:ext cx="393192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01184" y="244602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6632" y="244602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244602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13248" y="23957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19472" y="2734056"/>
            <a:ext cx="3602736" cy="161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React side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fetch(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'http://localhost:3000/api/students'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=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setStudents(data);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 your UI shows real data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 Postman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test POST or DELETE from the browser address bar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329184" cy="329184"/>
          </a:xfrm>
          <a:prstGeom prst="ellipse">
            <a:avLst/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method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361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 or DELETE from the dropdown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29184" cy="329184"/>
          </a:xfrm>
          <a:prstGeom prst="ellipse">
            <a:avLst/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the URL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122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http://localhost:3000/api/students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329184" cy="329184"/>
          </a:xfrm>
          <a:prstGeom prst="ellipse">
            <a:avLst/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96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body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6883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→ raw → JSON, then type your object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329184" cy="329184"/>
          </a:xfrm>
          <a:prstGeom prst="ellipse">
            <a:avLst/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3026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 Send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2644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status code and the response together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648456"/>
            <a:ext cx="329184" cy="329184"/>
          </a:xfrm>
          <a:prstGeom prst="ellipse">
            <a:avLst/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3602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8404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collection so you can re-run every test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078224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07822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Postman open all term. Test every route the moment you write it — never after ten of them.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CRUD API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routes for one resource — your week 2 project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394253"/>
          </a:xfrm>
          <a:prstGeom prst="roundRect">
            <a:avLst>
              <a:gd name="adj" fmla="val 1886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91056"/>
            <a:ext cx="411480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39446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39446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9446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3441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682496"/>
            <a:ext cx="3785616" cy="286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notes = [{ id: 1, title: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'First'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}];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all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'/notes'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.json(notes));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one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'/notes/:id'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notes.find(x =&gt;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x.id === Number(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.params.id));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(!n)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.status(404)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.json({ error: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'Not found'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.json(n);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3394253"/>
          </a:xfrm>
          <a:prstGeom prst="roundRect">
            <a:avLst>
              <a:gd name="adj" fmla="val 1886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91056"/>
            <a:ext cx="3931920" cy="7315"/>
          </a:xfrm>
          <a:prstGeom prst="rect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01184" y="1394460"/>
            <a:ext cx="86868" cy="8686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56632" y="1394460"/>
            <a:ext cx="86868" cy="8686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394460"/>
            <a:ext cx="86868" cy="8686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682496"/>
            <a:ext cx="3602736" cy="286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.post(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'/notes'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{ id: Date.now(),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.body.title };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notes.push(n);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.status(201).json(n);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'/notes/:id'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notes = notes.filter(x =&gt;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x.id !== Number(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.params.id));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.status(204).end();</a:t>
            </a:r>
            <a:endParaRPr lang="en-US" sz="950" dirty="0"/>
          </a:p>
          <a:p>
            <a:pPr indent="0" marL="0">
              <a:lnSpc>
                <a:spcPts val="1292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these five and you will debug ten times faster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req.body is undefined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096512" y="129844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1298448"/>
            <a:ext cx="4206240" cy="502920"/>
          </a:xfrm>
          <a:prstGeom prst="roundRect">
            <a:avLst>
              <a:gd name="adj" fmla="val 12727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12984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forgot app.use(express.json())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019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never finishes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96512" y="190195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80560" y="1901952"/>
            <a:ext cx="4206240" cy="502920"/>
          </a:xfrm>
          <a:prstGeom prst="roundRect">
            <a:avLst>
              <a:gd name="adj" fmla="val 12727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901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middleware is missing its next() call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054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GET /students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96512" y="250545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80560" y="2505456"/>
            <a:ext cx="4206240" cy="502920"/>
          </a:xfrm>
          <a:prstGeom prst="roundRect">
            <a:avLst>
              <a:gd name="adj" fmla="val 12727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25054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typo, or defined after app.listen()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 already in use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096512" y="31089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80560" y="3108960"/>
            <a:ext cx="4206240" cy="502920"/>
          </a:xfrm>
          <a:prstGeom prst="roundRect">
            <a:avLst>
              <a:gd name="adj" fmla="val 12727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108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 server is still running in another terminal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7124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2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error in the console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96512" y="371246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480560" y="3712464"/>
            <a:ext cx="4206240" cy="502920"/>
          </a:xfrm>
          <a:prstGeom prst="roundRect">
            <a:avLst>
              <a:gd name="adj" fmla="val 12727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37124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cors and add app.use(cors())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Best Practices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separate a student project from a real 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Trust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field before touching your database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81728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1184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13248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in .env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passwords, keys, or URIs hard-coded in your files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Responses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JSON, always a status code, always the same shape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81728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1184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Job Per File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route, controllers process, models describe data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 — Student API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these two sections in one build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05072" cy="2651760"/>
          </a:xfrm>
          <a:prstGeom prst="roundRect">
            <a:avLst>
              <a:gd name="adj" fmla="val 3103"/>
            </a:avLst>
          </a:prstGeom>
          <a:solidFill>
            <a:srgbClr val="1B1F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48132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4944" y="1883664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CRUD routes for /api/students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that name and grade exist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proper status codes everywhere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logger middleware on every request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error handler at the end</a:t>
            </a:r>
            <a:endParaRPr lang="en-US" sz="1100" dirty="0"/>
          </a:p>
          <a:p>
            <a:pPr marL="342900" indent="-342900">
              <a:lnSpc>
                <a:spcPts val="145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split into their own 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1728" y="1298448"/>
            <a:ext cx="4005072" cy="1261872"/>
          </a:xfrm>
          <a:prstGeom prst="roundRect">
            <a:avLst>
              <a:gd name="adj" fmla="val 6522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4447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goals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9472" y="17373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7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?search= filtering · add a /students/:id/grades sub-route · connect it to a React page with fetch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1728" y="2688336"/>
            <a:ext cx="4005072" cy="1261872"/>
          </a:xfrm>
          <a:prstGeom prst="roundRect">
            <a:avLst>
              <a:gd name="adj" fmla="val 6522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28346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will be marked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312724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tested live in Postman · clean folder structure · no secrets committed · pushed to GitHub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to build things in — every single time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33472" cy="1207008"/>
          </a:xfrm>
          <a:prstGeom prst="roundRect">
            <a:avLst>
              <a:gd name="adj" fmla="val 681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536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19751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routes on paper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55264" y="1371600"/>
            <a:ext cx="2633472" cy="1207008"/>
          </a:xfrm>
          <a:prstGeom prst="roundRect">
            <a:avLst>
              <a:gd name="adj" fmla="val 681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536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19751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Express and one test route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3328" y="1371600"/>
            <a:ext cx="2633472" cy="1207008"/>
          </a:xfrm>
          <a:prstGeom prst="roundRect">
            <a:avLst>
              <a:gd name="adj" fmla="val 681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536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72784" y="19751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routes with fake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2633472" cy="1207008"/>
          </a:xfrm>
          <a:prstGeom prst="roundRect">
            <a:avLst>
              <a:gd name="adj" fmla="val 681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953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" y="33924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everything in Postman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55264" y="2788920"/>
            <a:ext cx="2633472" cy="1207008"/>
          </a:xfrm>
          <a:prstGeom prst="roundRect">
            <a:avLst>
              <a:gd name="adj" fmla="val 681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953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74720" y="33924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fake data for the database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3328" y="2788920"/>
            <a:ext cx="2633472" cy="1207008"/>
          </a:xfrm>
          <a:prstGeom prst="roundRect">
            <a:avLst>
              <a:gd name="adj" fmla="val 681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2953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72784" y="33924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auth, then deploy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steps 3 and 4 come before the database. Get the API shape right first — data storage is a detail you swap in later.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build after these two sections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file system, npm, and asynchronous code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81728" y="1298448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1184" y="1517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13248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Routing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883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endpoints, params, query strings, and bodies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validation, auth checks, and error handling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81728" y="2926080"/>
            <a:ext cx="4005072" cy="1444752"/>
          </a:xfrm>
          <a:prstGeom prst="roundRect">
            <a:avLst>
              <a:gd name="adj" fmla="val 569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1184" y="3145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7FB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tested in Postman, and connected to React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743200"/>
            <a:ext cx="3108960" cy="3108960"/>
          </a:xfrm>
          <a:prstGeom prst="ellipse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858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API to Full Stack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9751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+ Mongoose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35915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models, relationships. Your data finally survives a restart.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31181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with JWT + bcrypt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50215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protected routes — then deploy the whole stack live.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4681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rgbClr val="232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Student API before the next class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storing that data in MongoDB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Zubitech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&amp; Express.js Course</dc:title>
  <dc:subject>PptxGenJS Presentation</dc:subject>
  <dc:creator>Zubitech</dc:creator>
  <cp:lastModifiedBy>Zubitech</cp:lastModifiedBy>
  <cp:revision>1</cp:revision>
  <dcterms:created xsi:type="dcterms:W3CDTF">2026-07-30T05:09:38Z</dcterms:created>
  <dcterms:modified xsi:type="dcterms:W3CDTF">2026-07-30T05:09:38Z</dcterms:modified>
</cp:coreProperties>
</file>